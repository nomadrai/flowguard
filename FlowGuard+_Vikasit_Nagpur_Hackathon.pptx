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Oswald" panose="00000500000000000000" pitchFamily="2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XkqYJJ3sjj5Kr2Zmk1hUbbZQK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8150" y="-13500"/>
            <a:ext cx="12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458925" y="1549550"/>
            <a:ext cx="74202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sz="3600" b="1">
                <a:solidFill>
                  <a:srgbClr val="F79646"/>
                </a:solidFill>
                <a:latin typeface="Arial"/>
              </a:rPr>
              <a:t>FLOWGUARD+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4226" y="1268599"/>
            <a:ext cx="103632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200" b="1" dirty="0">
                <a:solidFill>
                  <a:srgbClr val="FF99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VIKASIT NAGPUR HACKATHON 2026</a:t>
            </a:r>
            <a:endParaRPr sz="3200" b="1" dirty="0">
              <a:solidFill>
                <a:srgbClr val="FF99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31275" y="2307750"/>
            <a:ext cx="10445582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000" lvl="0" algn="l" rtl="0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</a:pPr>
            <a:r>
              <a:rPr sz="1800" b="1">
                <a:solidFill>
                  <a:srgbClr val="333333"/>
                </a:solidFill>
                <a:latin typeface="Arial"/>
              </a:rPr>
              <a:t>Project Name:  </a:t>
            </a:r>
            <a:r>
              <a:rPr sz="1800" b="0">
                <a:solidFill>
                  <a:srgbClr val="333333"/>
                </a:solidFill>
                <a:latin typeface="Arial"/>
              </a:rPr>
              <a:t>FLOWGUARD+ - Physics-Driven Urban Drainage Health &amp; Flood Prevention</a:t>
            </a:r>
            <a:endParaRPr lang="en-US"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Arial"/>
              </a:rPr>
              <a:t>Theme:  </a:t>
            </a:r>
            <a:r>
              <a:rPr sz="1800" b="0">
                <a:solidFill>
                  <a:srgbClr val="333333"/>
                </a:solidFill>
                <a:latin typeface="Arial"/>
              </a:rPr>
              <a:t>Open Innovation for Vikasit Nagpur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Arial"/>
              </a:rPr>
              <a:t>Domain:  </a:t>
            </a:r>
            <a:r>
              <a:rPr sz="1800" b="0">
                <a:solidFill>
                  <a:srgbClr val="333333"/>
                </a:solidFill>
                <a:latin typeface="Arial"/>
              </a:rPr>
              <a:t>Smart City | Urban Infrastructure | IoT | Flood Prevention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55A11"/>
                </a:solidFill>
                <a:latin typeface="Arial"/>
              </a:rPr>
              <a:t>Tagline:  </a:t>
            </a:r>
            <a:r>
              <a:rPr sz="1800" b="0">
                <a:solidFill>
                  <a:srgbClr val="C55A11"/>
                </a:solidFill>
                <a:latin typeface="Arial"/>
              </a:rPr>
              <a:t>Don’t wait for the flood - monitor the drain before it fails.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Arial"/>
              </a:rPr>
              <a:t>Pipeline:  </a:t>
            </a:r>
            <a:r>
              <a:rPr sz="1800" b="0">
                <a:solidFill>
                  <a:srgbClr val="333333"/>
                </a:solidFill>
                <a:latin typeface="Arial"/>
              </a:rPr>
              <a:t>Detect → Localize → Quantify → Prioritize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Arial"/>
              </a:rPr>
              <a:t>Team:  </a:t>
            </a:r>
            <a:r>
              <a:rPr sz="1800" b="0">
                <a:solidFill>
                  <a:srgbClr val="333333"/>
                </a:solidFill>
                <a:latin typeface="Arial"/>
              </a:rPr>
              <a:t>[Your Team Name]   |   Hackathon: [Vikasit Nagpur Hackathon 2026]</a:t>
            </a:r>
          </a:p>
        </p:txBody>
      </p:sp>
      <p:pic>
        <p:nvPicPr>
          <p:cNvPr id="92" name="Google Shape;92;p1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0739" y="-13500"/>
            <a:ext cx="1007035" cy="127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5;p1" title="Screenshot 2026-07-31 at 4.45.17 PM.png">
            <a:extLst>
              <a:ext uri="{FF2B5EF4-FFF2-40B4-BE49-F238E27FC236}">
                <a16:creationId xmlns:a16="http://schemas.microsoft.com/office/drawing/2014/main" id="{B5D732F7-3B1F-A8D9-9B5F-6043A0D0568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5143" y="5908597"/>
            <a:ext cx="9400874" cy="85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accent6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02920" y="1481328"/>
            <a:ext cx="111556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200"/>
            </a:pPr>
            <a:r>
              <a:rPr sz="1500" b="1">
                <a:solidFill>
                  <a:srgbClr val="9E3B38"/>
                </a:solidFill>
                <a:latin typeface="Arial"/>
              </a:rPr>
              <a:t>The problem:  </a:t>
            </a:r>
            <a:r>
              <a:rPr sz="1500" b="0">
                <a:solidFill>
                  <a:srgbClr val="333333"/>
                </a:solidFill>
                <a:latin typeface="Arial"/>
              </a:rPr>
              <a:t>a drain can silently lose capacity long before a flood becomes visible. Manual inspection is periodic and reactive.</a:t>
            </a:r>
            <a:endParaRPr sz="18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538135"/>
                </a:solidFill>
                <a:latin typeface="Arial"/>
              </a:rPr>
              <a:t>The idea:  </a:t>
            </a:r>
            <a:r>
              <a:rPr sz="1500" b="0">
                <a:solidFill>
                  <a:srgbClr val="333333"/>
                </a:solidFill>
                <a:latin typeface="Arial"/>
              </a:rPr>
              <a:t>continuously compare EXPECTED hydraulic behaviour vs ACTUAL sensor observation for every monitored segment.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F497D"/>
                </a:solidFill>
                <a:latin typeface="Arial"/>
              </a:rPr>
              <a:t>Residual = Actual − Expected.  </a:t>
            </a:r>
            <a:r>
              <a:rPr sz="1500" b="0">
                <a:solidFill>
                  <a:srgbClr val="333333"/>
                </a:solidFill>
                <a:latin typeface="Arial"/>
              </a:rPr>
              <a:t>Small / transient → HEALTHY.  Significant / persistent → ANOMALY.  Consistent degradation → POSSIBLE CAPACITY LOSS.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F497D"/>
                </a:solidFill>
                <a:latin typeface="Arial"/>
              </a:rPr>
              <a:t>Output:  </a:t>
            </a:r>
            <a:r>
              <a:rPr sz="1500" b="0">
                <a:solidFill>
                  <a:srgbClr val="333333"/>
                </a:solidFill>
                <a:latin typeface="Arial"/>
              </a:rPr>
              <a:t>localize the suspected affected segment, estimate its capacity loss, and prioritize inspection &amp; maintenance.</a:t>
            </a: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2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491952" cy="10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2;p3">
            <a:extLst>
              <a:ext uri="{FF2B5EF4-FFF2-40B4-BE49-F238E27FC236}">
                <a16:creationId xmlns:a16="http://schemas.microsoft.com/office/drawing/2014/main" id="{8DB96305-3DE1-DB58-46FB-75E4932D0A98}"/>
              </a:ext>
            </a:extLst>
          </p:cNvPr>
          <p:cNvSpPr txBox="1">
            <a:spLocks/>
          </p:cNvSpPr>
          <p:nvPr/>
        </p:nvSpPr>
        <p:spPr>
          <a:xfrm>
            <a:off x="2792140" y="436951"/>
            <a:ext cx="614045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2400" b="1" dirty="0">
                <a:solidFill>
                  <a:schemeClr val="accent6"/>
                </a:solidFill>
                <a:latin typeface="Times New Roman"/>
                <a:cs typeface="Times New Roman"/>
                <a:sym typeface="Times New Roman"/>
              </a:rPr>
              <a:t>SOLUTION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02920" y="3090672"/>
            <a:ext cx="69494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  <a:latin typeface="Arial"/>
              </a:rPr>
              <a:t>THE SILENT FAILURE CYCLE - TODAY’S REALITY</a:t>
            </a:r>
          </a:p>
        </p:txBody>
      </p:sp>
      <p:sp>
        <p:nvSpPr>
          <p:cNvPr id="108" name="Chevron 107"/>
          <p:cNvSpPr/>
          <p:nvPr/>
        </p:nvSpPr>
        <p:spPr>
          <a:xfrm>
            <a:off x="502920" y="3401568"/>
            <a:ext cx="1481328" cy="566928"/>
          </a:xfrm>
          <a:prstGeom prst="chevron">
            <a:avLst>
              <a:gd name="adj" fmla="val 18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HEALTHY DRAIN</a:t>
            </a:r>
          </a:p>
        </p:txBody>
      </p:sp>
      <p:sp>
        <p:nvSpPr>
          <p:cNvPr id="109" name="Chevron 108"/>
          <p:cNvSpPr/>
          <p:nvPr/>
        </p:nvSpPr>
        <p:spPr>
          <a:xfrm>
            <a:off x="1865376" y="3401568"/>
            <a:ext cx="1481328" cy="566928"/>
          </a:xfrm>
          <a:prstGeom prst="chevron">
            <a:avLst>
              <a:gd name="adj" fmla="val 18000"/>
            </a:avLst>
          </a:prstGeom>
          <a:solidFill>
            <a:srgbClr val="B3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SILENT CAPACITY LOSS</a:t>
            </a:r>
          </a:p>
        </p:txBody>
      </p:sp>
      <p:sp>
        <p:nvSpPr>
          <p:cNvPr id="110" name="Chevron 109"/>
          <p:cNvSpPr/>
          <p:nvPr/>
        </p:nvSpPr>
        <p:spPr>
          <a:xfrm>
            <a:off x="3227832" y="3401568"/>
            <a:ext cx="1481328" cy="566928"/>
          </a:xfrm>
          <a:prstGeom prst="chevron">
            <a:avLst>
              <a:gd name="adj" fmla="val 1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HEAVY RAIN</a:t>
            </a:r>
          </a:p>
        </p:txBody>
      </p:sp>
      <p:sp>
        <p:nvSpPr>
          <p:cNvPr id="111" name="Chevron 110"/>
          <p:cNvSpPr/>
          <p:nvPr/>
        </p:nvSpPr>
        <p:spPr>
          <a:xfrm>
            <a:off x="4590288" y="3401568"/>
            <a:ext cx="1481328" cy="566928"/>
          </a:xfrm>
          <a:prstGeom prst="chevron">
            <a:avLst>
              <a:gd name="adj" fmla="val 18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WATER BACKUP</a:t>
            </a:r>
          </a:p>
        </p:txBody>
      </p:sp>
      <p:sp>
        <p:nvSpPr>
          <p:cNvPr id="112" name="Chevron 111"/>
          <p:cNvSpPr/>
          <p:nvPr/>
        </p:nvSpPr>
        <p:spPr>
          <a:xfrm>
            <a:off x="5952744" y="3401568"/>
            <a:ext cx="1481328" cy="566928"/>
          </a:xfrm>
          <a:prstGeom prst="chevron">
            <a:avLst>
              <a:gd name="adj" fmla="val 18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FLOODING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4114800"/>
            <a:ext cx="694944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55A11"/>
                </a:solidFill>
                <a:latin typeface="Arial"/>
              </a:rPr>
              <a:t>FlowGuard+ intervenes at “SILENT CAPACITY LOSS”</a:t>
            </a:r>
            <a:r>
              <a:rPr sz="1300" b="0" i="0">
                <a:solidFill>
                  <a:srgbClr val="333333"/>
                </a:solidFill>
                <a:latin typeface="Arial"/>
              </a:rPr>
              <a:t>  - before the rain arrives.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02920" y="461772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PREVENTIVE + LOCALIZED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520440" y="4617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PHYSICS-BASED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715000" y="461772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2E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MAINTENANCE-FOCUSED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955279" y="3063240"/>
            <a:ext cx="37033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010144" y="3118104"/>
            <a:ext cx="3593591" cy="310896"/>
          </a:xfrm>
          <a:prstGeom prst="roundRect">
            <a:avLst>
              <a:gd name="adj" fmla="val 3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THE DRAINAGE FINGERPRINT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83879" y="3474720"/>
            <a:ext cx="32918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EXPECTED BEHAVIOUR</a:t>
            </a:r>
            <a:r>
              <a:rPr sz="1150" b="0" i="0">
                <a:solidFill>
                  <a:srgbClr val="333333"/>
                </a:solidFill>
                <a:latin typeface="Arial"/>
              </a:rPr>
              <a:t>  vs  </a:t>
            </a:r>
            <a:r>
              <a:rPr sz="1150" b="1" i="0">
                <a:solidFill>
                  <a:srgbClr val="C55A11"/>
                </a:solidFill>
                <a:latin typeface="Arial"/>
              </a:rPr>
              <a:t>ACTUAL OBSERVATION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183879" y="3822191"/>
            <a:ext cx="3291840" cy="402336"/>
          </a:xfrm>
          <a:prstGeom prst="roundRect">
            <a:avLst>
              <a:gd name="adj" fmla="val 30000"/>
            </a:avLst>
          </a:prstGeom>
          <a:solidFill>
            <a:srgbClr val="EAF1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Residual = Actual − Expected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183879" y="4352544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HEALTHY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46920" y="4334256"/>
            <a:ext cx="19202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Residual small &amp; normal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183879" y="4791456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B3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ANOMALY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46920" y="4773168"/>
            <a:ext cx="19202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Residual significant &amp; persistent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183879" y="5230368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CAPACITY LOSS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46920" y="5212080"/>
            <a:ext cx="19202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Consistent degraded performance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83879" y="5742432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1">
                <a:solidFill>
                  <a:srgbClr val="595959"/>
                </a:solidFill>
                <a:latin typeface="Arial"/>
              </a:rPr>
              <a:t>Residual persistence = anomaly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3493825" y="1024297"/>
            <a:ext cx="408305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02920" y="193852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sz="1300" b="1">
                <a:solidFill>
                  <a:srgbClr val="1F497D"/>
                </a:solidFill>
                <a:latin typeface="Arial"/>
              </a:rPr>
              <a:t>Stack:  </a:t>
            </a:r>
            <a:r>
              <a:rPr sz="1300" b="0">
                <a:solidFill>
                  <a:srgbClr val="333333"/>
                </a:solidFill>
                <a:latin typeface="Arial"/>
              </a:rPr>
              <a:t>ESP32 + HC-SR04 ultrasonic sensing  |  hydraulic baseline model  |  residual &amp; persistence analytics  |  prioritization engine  |  municipal dashboard</a:t>
            </a:r>
            <a:endParaRPr sz="1800"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3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83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8850" y="-13500"/>
            <a:ext cx="1144150" cy="12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TextBox 117"/>
          <p:cNvSpPr txBox="1"/>
          <p:nvPr/>
        </p:nvSpPr>
        <p:spPr>
          <a:xfrm>
            <a:off x="502920" y="2450592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97D"/>
                </a:solidFill>
                <a:latin typeface="Arial"/>
              </a:rPr>
              <a:t>SENSING  +  HYDRAULIC ANALYSIS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80760" y="2450592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5A11"/>
                </a:solidFill>
                <a:latin typeface="Arial"/>
              </a:rPr>
              <a:t>DIAGNOSIS  +  ACTION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2920" y="27432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01  </a:t>
            </a:r>
            <a:r>
              <a:rPr sz="1050" b="1">
                <a:solidFill>
                  <a:srgbClr val="FFFFFF"/>
                </a:solidFill>
                <a:latin typeface="Arial"/>
              </a:rPr>
              <a:t>REAL DRAIN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080760" y="27432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07  </a:t>
            </a:r>
            <a:r>
              <a:rPr sz="1050" b="1">
                <a:solidFill>
                  <a:srgbClr val="FFFFFF"/>
                </a:solidFill>
                <a:latin typeface="Arial"/>
              </a:rPr>
              <a:t>PERSISTENCE CHECK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02920" y="32004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02  </a:t>
            </a:r>
            <a:r>
              <a:rPr sz="1050" b="1">
                <a:solidFill>
                  <a:srgbClr val="FFFFFF"/>
                </a:solidFill>
                <a:latin typeface="Arial"/>
              </a:rPr>
              <a:t>ESP32 + HC-SR04 NODE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080760" y="32004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08  </a:t>
            </a:r>
            <a:r>
              <a:rPr sz="1050" b="1">
                <a:solidFill>
                  <a:srgbClr val="FFFFFF"/>
                </a:solidFill>
                <a:latin typeface="Arial"/>
              </a:rPr>
              <a:t>CAPACITY-LOSS ESTIMATION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0" y="36576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2E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03  </a:t>
            </a:r>
            <a:r>
              <a:rPr sz="1050" b="1">
                <a:solidFill>
                  <a:srgbClr val="FFFFFF"/>
                </a:solidFill>
                <a:latin typeface="Arial"/>
              </a:rPr>
              <a:t>REAL-TIME SENSOR DATA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080760" y="36576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09  </a:t>
            </a:r>
            <a:r>
              <a:rPr sz="1050" b="1">
                <a:solidFill>
                  <a:srgbClr val="FFFFFF"/>
                </a:solidFill>
                <a:latin typeface="Arial"/>
              </a:rPr>
              <a:t>SEGMENT LOCALIZATION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" y="41148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2E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04  </a:t>
            </a:r>
            <a:r>
              <a:rPr sz="1050" b="1">
                <a:solidFill>
                  <a:srgbClr val="FFFFFF"/>
                </a:solidFill>
                <a:latin typeface="Arial"/>
              </a:rPr>
              <a:t>HYDRAULIC BASELINE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080760" y="41148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10  </a:t>
            </a:r>
            <a:r>
              <a:rPr sz="1050" b="1">
                <a:solidFill>
                  <a:srgbClr val="FFFFFF"/>
                </a:solidFill>
                <a:latin typeface="Arial"/>
              </a:rPr>
              <a:t>FLOOD CONSEQUENCE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02920" y="45720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05  </a:t>
            </a:r>
            <a:r>
              <a:rPr sz="1050" b="1">
                <a:solidFill>
                  <a:srgbClr val="FFFFFF"/>
                </a:solidFill>
                <a:latin typeface="Arial"/>
              </a:rPr>
              <a:t>EXPECTED vs ACTUAL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080760" y="45720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11  </a:t>
            </a:r>
            <a:r>
              <a:rPr sz="1050" b="1">
                <a:solidFill>
                  <a:srgbClr val="FFFFFF"/>
                </a:solidFill>
                <a:latin typeface="Arial"/>
              </a:rPr>
              <a:t>MAINTENANCE PRIORITY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2920" y="50292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06  </a:t>
            </a:r>
            <a:r>
              <a:rPr sz="1050" b="1">
                <a:solidFill>
                  <a:srgbClr val="FFFFFF"/>
                </a:solidFill>
                <a:latin typeface="Arial"/>
              </a:rPr>
              <a:t>RESIDUAL ANALYSIS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080760" y="5029200"/>
            <a:ext cx="4846320" cy="374904"/>
          </a:xfrm>
          <a:prstGeom prst="roundRect">
            <a:avLst>
              <a:gd name="adj" fmla="val 14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12  </a:t>
            </a:r>
            <a:r>
              <a:rPr sz="1050" b="1">
                <a:solidFill>
                  <a:srgbClr val="FFFFFF"/>
                </a:solidFill>
                <a:latin typeface="Arial"/>
              </a:rPr>
              <a:t>MUNICIPAL DASHBOARD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5486400" y="3963924"/>
            <a:ext cx="457200" cy="237744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502920" y="5596128"/>
            <a:ext cx="3593592" cy="475488"/>
          </a:xfrm>
          <a:prstGeom prst="roundRect">
            <a:avLst>
              <a:gd name="adj" fmla="val 25000"/>
            </a:avLst>
          </a:prstGeom>
          <a:solidFill>
            <a:srgbClr val="EAF1FA"/>
          </a:solidFill>
          <a:ln w="1524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1F497D"/>
                </a:solidFill>
                <a:latin typeface="Arial"/>
              </a:rPr>
              <a:t>EDGE LAYER  </a:t>
            </a:r>
            <a:r>
              <a:rPr sz="950" b="1">
                <a:solidFill>
                  <a:srgbClr val="333333"/>
                </a:solidFill>
                <a:latin typeface="Arial"/>
              </a:rPr>
              <a:t>ESP32 + water-level sensing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261104" y="5596128"/>
            <a:ext cx="3593592" cy="475488"/>
          </a:xfrm>
          <a:prstGeom prst="roundRect">
            <a:avLst>
              <a:gd name="adj" fmla="val 25000"/>
            </a:avLst>
          </a:prstGeom>
          <a:solidFill>
            <a:srgbClr val="EAF1FA"/>
          </a:solidFill>
          <a:ln w="15240">
            <a:solidFill>
              <a:srgbClr val="2E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2E7F99"/>
                </a:solidFill>
                <a:latin typeface="Arial"/>
              </a:rPr>
              <a:t>ANALYTICS LAYER  </a:t>
            </a:r>
            <a:r>
              <a:rPr sz="950" b="1">
                <a:solidFill>
                  <a:srgbClr val="333333"/>
                </a:solidFill>
                <a:latin typeface="Arial"/>
              </a:rPr>
              <a:t>hydraulic model + residual + anomaly detection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019288" y="5596128"/>
            <a:ext cx="3593592" cy="475488"/>
          </a:xfrm>
          <a:prstGeom prst="roundRect">
            <a:avLst>
              <a:gd name="adj" fmla="val 25000"/>
            </a:avLst>
          </a:prstGeom>
          <a:solidFill>
            <a:srgbClr val="FDEDE0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C55A11"/>
                </a:solidFill>
                <a:latin typeface="Arial"/>
              </a:rPr>
              <a:t>DECISION LAYER  </a:t>
            </a:r>
            <a:r>
              <a:rPr sz="950" b="1">
                <a:solidFill>
                  <a:srgbClr val="333333"/>
                </a:solidFill>
                <a:latin typeface="Arial"/>
              </a:rPr>
              <a:t>localization + flood consequence + priority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534983" y="1277799"/>
            <a:ext cx="109728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IMPLEMENTATION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02920" y="1874519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350" b="1">
                <a:solidFill>
                  <a:srgbClr val="1F497D"/>
                </a:solidFill>
                <a:latin typeface="Arial"/>
              </a:rPr>
              <a:t>Live proof, not simulation:  </a:t>
            </a:r>
            <a:r>
              <a:rPr sz="1350" b="0">
                <a:solidFill>
                  <a:srgbClr val="333333"/>
                </a:solidFill>
                <a:latin typeface="Arial"/>
              </a:rPr>
              <a:t>a miniature transparent drainage channel with controlled inflow, ultrasonic water-level sensing and real-time expected-vs-actual analysis on ESP32.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7" name="Google Shape;127;p4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Chevron 129"/>
          <p:cNvSpPr/>
          <p:nvPr/>
        </p:nvSpPr>
        <p:spPr>
          <a:xfrm>
            <a:off x="502920" y="2606040"/>
            <a:ext cx="2212848" cy="502920"/>
          </a:xfrm>
          <a:prstGeom prst="chevron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CONTROLLED INFLOW</a:t>
            </a:r>
          </a:p>
        </p:txBody>
      </p:sp>
      <p:sp>
        <p:nvSpPr>
          <p:cNvPr id="131" name="Chevron 130"/>
          <p:cNvSpPr/>
          <p:nvPr/>
        </p:nvSpPr>
        <p:spPr>
          <a:xfrm>
            <a:off x="2587752" y="2606040"/>
            <a:ext cx="2212848" cy="502920"/>
          </a:xfrm>
          <a:prstGeom prst="chevron">
            <a:avLst>
              <a:gd name="adj" fmla="val 16000"/>
            </a:avLst>
          </a:prstGeom>
          <a:solidFill>
            <a:srgbClr val="2E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MINI DRAIN</a:t>
            </a:r>
          </a:p>
        </p:txBody>
      </p:sp>
      <p:sp>
        <p:nvSpPr>
          <p:cNvPr id="132" name="Chevron 131"/>
          <p:cNvSpPr/>
          <p:nvPr/>
        </p:nvSpPr>
        <p:spPr>
          <a:xfrm>
            <a:off x="4672583" y="2606040"/>
            <a:ext cx="2212848" cy="502920"/>
          </a:xfrm>
          <a:prstGeom prst="chevron">
            <a:avLst>
              <a:gd name="adj" fmla="val 16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HC-SR04 SENSING</a:t>
            </a:r>
          </a:p>
        </p:txBody>
      </p:sp>
      <p:sp>
        <p:nvSpPr>
          <p:cNvPr id="133" name="Chevron 132"/>
          <p:cNvSpPr/>
          <p:nvPr/>
        </p:nvSpPr>
        <p:spPr>
          <a:xfrm>
            <a:off x="6757416" y="2606040"/>
            <a:ext cx="2212848" cy="502920"/>
          </a:xfrm>
          <a:prstGeom prst="chevron">
            <a:avLst>
              <a:gd name="adj" fmla="val 16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ESP32 EDGE</a:t>
            </a:r>
          </a:p>
        </p:txBody>
      </p:sp>
      <p:sp>
        <p:nvSpPr>
          <p:cNvPr id="134" name="Chevron 133"/>
          <p:cNvSpPr/>
          <p:nvPr/>
        </p:nvSpPr>
        <p:spPr>
          <a:xfrm>
            <a:off x="8842248" y="2606040"/>
            <a:ext cx="2212848" cy="502920"/>
          </a:xfrm>
          <a:prstGeom prst="chevron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EXPECTED vs ACTUAL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3383280"/>
            <a:ext cx="5852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557784" y="3438144"/>
            <a:ext cx="5742432" cy="310896"/>
          </a:xfrm>
          <a:prstGeom prst="roundRect">
            <a:avLst>
              <a:gd name="adj" fmla="val 3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LIVE DEMO - 3-STEP EXPERIMENT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77240" y="3785615"/>
            <a:ext cx="5303520" cy="365760"/>
          </a:xfrm>
          <a:prstGeom prst="roundRect">
            <a:avLst>
              <a:gd name="adj" fmla="val 20000"/>
            </a:avLst>
          </a:prstGeom>
          <a:solidFill>
            <a:srgbClr val="E8F3E3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538135"/>
                </a:solidFill>
                <a:latin typeface="Arial"/>
              </a:rPr>
              <a:t>STEP 1  CLEAN DRAIN    </a:t>
            </a:r>
            <a:r>
              <a:rPr sz="1000" b="1">
                <a:solidFill>
                  <a:srgbClr val="333333"/>
                </a:solidFill>
                <a:latin typeface="Arial"/>
              </a:rPr>
              <a:t>Expected ≈ Actual  →  HEALTHY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77240" y="4187952"/>
            <a:ext cx="5303520" cy="365760"/>
          </a:xfrm>
          <a:prstGeom prst="roundRect">
            <a:avLst>
              <a:gd name="adj" fmla="val 20000"/>
            </a:avLst>
          </a:prstGeom>
          <a:solidFill>
            <a:srgbClr val="FFF3CC"/>
          </a:solidFill>
          <a:ln w="12700">
            <a:solidFill>
              <a:srgbClr val="B3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B38600"/>
                </a:solidFill>
                <a:latin typeface="Arial"/>
              </a:rPr>
              <a:t>STEP 2  OBSTRUCTION INSERTED    </a:t>
            </a:r>
            <a:r>
              <a:rPr sz="1000" b="1">
                <a:solidFill>
                  <a:srgbClr val="333333"/>
                </a:solidFill>
                <a:latin typeface="Arial"/>
              </a:rPr>
              <a:t>Same inflow, behaviour deviates  →  ANOMALY DETECTED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77240" y="4590288"/>
            <a:ext cx="5303520" cy="365760"/>
          </a:xfrm>
          <a:prstGeom prst="roundRect">
            <a:avLst>
              <a:gd name="adj" fmla="val 20000"/>
            </a:avLst>
          </a:prstGeom>
          <a:solidFill>
            <a:srgbClr val="F9E7E6"/>
          </a:solidFill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1">
                <a:solidFill>
                  <a:srgbClr val="9E3B38"/>
                </a:solidFill>
                <a:latin typeface="Arial"/>
              </a:rPr>
              <a:t>STEP 3  PERSISTENT DEVIATION    </a:t>
            </a:r>
            <a:r>
              <a:rPr sz="1000" b="1">
                <a:solidFill>
                  <a:srgbClr val="333333"/>
                </a:solidFill>
                <a:latin typeface="Arial"/>
              </a:rPr>
              <a:t>Residual stays elevated  →  CAPACITY LOSS SUSPECTED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77240" y="5047488"/>
            <a:ext cx="5303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595959"/>
                </a:solidFill>
                <a:latin typeface="Arial"/>
              </a:rPr>
              <a:t>Hardware: ESP32  +  HC-SR04  +  mini drain  +  controlled inflow  +  removable obstruction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583680" y="3383280"/>
            <a:ext cx="50749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6638544" y="3438144"/>
            <a:ext cx="4965192" cy="310896"/>
          </a:xfrm>
          <a:prstGeom prst="roundRect">
            <a:avLst>
              <a:gd name="adj" fmla="val 3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CHALLENGES  →  MITIGATIONS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812280" y="3767328"/>
            <a:ext cx="2011680" cy="27432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Sensor fouling / silt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961120" y="3739896"/>
            <a:ext cx="251460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redundant nodes, cleaning protocol, self-check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812280" y="4114800"/>
            <a:ext cx="2011680" cy="27432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Flow variability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961120" y="4087368"/>
            <a:ext cx="251460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physics-based baseline adapts per segment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812280" y="4462272"/>
            <a:ext cx="2011680" cy="27432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Scale &amp; cost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961120" y="4434840"/>
            <a:ext cx="251460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low-cost ESP32 nodes, gradual roll-out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812280" y="4809744"/>
            <a:ext cx="2011680" cy="27432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Field validation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61120" y="4782312"/>
            <a:ext cx="251460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phased pilots with Nagpur Municipal Corporation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2920" y="5486400"/>
            <a:ext cx="11155680" cy="45720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79646"/>
                </a:solidFill>
                <a:latin typeface="Arial"/>
              </a:rPr>
              <a:t>WHY IT’S DIFFERENT:  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Others warn when water becomes dangerous. FlowGuard+ monitors why drainage capacity is becoming dangerous.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646714" y="1277799"/>
            <a:ext cx="47244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9" name="Google Shape;139;p5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Rounded Rectangle 141"/>
          <p:cNvSpPr/>
          <p:nvPr/>
        </p:nvSpPr>
        <p:spPr>
          <a:xfrm>
            <a:off x="502920" y="1920240"/>
            <a:ext cx="2624328" cy="566928"/>
          </a:xfrm>
          <a:prstGeom prst="roundRect">
            <a:avLst>
              <a:gd name="adj" fmla="val 2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78%  </a:t>
            </a:r>
            <a:r>
              <a:rPr sz="1000" b="1">
                <a:solidFill>
                  <a:srgbClr val="FFFFFF"/>
                </a:solidFill>
                <a:latin typeface="Arial"/>
              </a:rPr>
              <a:t>NETWORK HEALTHY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328416" y="1920240"/>
            <a:ext cx="2624328" cy="566928"/>
          </a:xfrm>
          <a:prstGeom prst="roundRect">
            <a:avLst>
              <a:gd name="adj" fmla="val 22000"/>
            </a:avLst>
          </a:prstGeom>
          <a:solidFill>
            <a:srgbClr val="2E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50  </a:t>
            </a:r>
            <a:r>
              <a:rPr sz="1000" b="1">
                <a:solidFill>
                  <a:srgbClr val="FFFFFF"/>
                </a:solidFill>
                <a:latin typeface="Arial"/>
              </a:rPr>
              <a:t>SEGMENTS MONITORED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53912" y="1920240"/>
            <a:ext cx="2624328" cy="566928"/>
          </a:xfrm>
          <a:prstGeom prst="roundRect">
            <a:avLst>
              <a:gd name="adj" fmla="val 2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  </a:t>
            </a:r>
            <a:r>
              <a:rPr sz="1000" b="1">
                <a:solidFill>
                  <a:srgbClr val="FFFFFF"/>
                </a:solidFill>
                <a:latin typeface="Arial"/>
              </a:rPr>
              <a:t>INSPECTIONS RECOMMENDED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979408" y="1920240"/>
            <a:ext cx="2624328" cy="566928"/>
          </a:xfrm>
          <a:prstGeom prst="roundRect">
            <a:avLst>
              <a:gd name="adj" fmla="val 22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  </a:t>
            </a:r>
            <a:r>
              <a:rPr sz="1000" b="1">
                <a:solidFill>
                  <a:srgbClr val="FFFFFF"/>
                </a:solidFill>
                <a:latin typeface="Arial"/>
              </a:rPr>
              <a:t>HIGH-IMPACT SEGMENTS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02920" y="2743200"/>
            <a:ext cx="57150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57784" y="2798064"/>
            <a:ext cx="5605272" cy="310896"/>
          </a:xfrm>
          <a:prstGeom prst="roundRect">
            <a:avLst>
              <a:gd name="adj" fmla="val 3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CAPACITY LOSS → FLOOD RISK  (illustrative: 80 mm rain)</a:t>
            </a: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777240" y="3200400"/>
          <a:ext cx="3931919" cy="1051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/>
                <a:gridCol w="105156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Drain condition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Degraded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Severely degraded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148"/>
          <p:cNvSpPr txBox="1"/>
          <p:nvPr/>
        </p:nvSpPr>
        <p:spPr>
          <a:xfrm>
            <a:off x="777240" y="4389120"/>
            <a:ext cx="51206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Less capacity + same rainfall  →  more water accumulation  →  higher flood consequence.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7240" y="470916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1">
                <a:solidFill>
                  <a:srgbClr val="9E3B38"/>
                </a:solidFill>
                <a:latin typeface="Arial"/>
              </a:rPr>
              <a:t>Key idea: a drainage problem becomes dangerous when reduced capacity meets heavy rainfall.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492240" y="2743200"/>
            <a:ext cx="51663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6547103" y="2798064"/>
            <a:ext cx="5056632" cy="310896"/>
          </a:xfrm>
          <a:prstGeom prst="roundRect">
            <a:avLst>
              <a:gd name="adj" fmla="val 3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MAINTENANCE PRIORITY - WHAT TO FIX FIRST</a:t>
            </a: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766560" y="3200400"/>
          <a:ext cx="457200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/>
                <a:gridCol w="731520"/>
                <a:gridCol w="960120"/>
                <a:gridCol w="1051560"/>
                <a:gridCol w="118872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Capacity loss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64008" marR="64008" marT="18288" marB="18288" anchor="ctr">
                    <a:solidFill>
                      <a:srgbClr val="1F497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#1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Inspect now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#2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S08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Inspect soon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#3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TextBox 153"/>
          <p:cNvSpPr txBox="1"/>
          <p:nvPr/>
        </p:nvSpPr>
        <p:spPr>
          <a:xfrm>
            <a:off x="6766560" y="4553712"/>
            <a:ext cx="4572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497D"/>
                </a:solidFill>
                <a:latin typeface="Arial"/>
              </a:rPr>
              <a:t>Limited municipal resources  →  data-driven inspection priority  →  inspect here first.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02920" y="5440680"/>
            <a:ext cx="11155680" cy="502920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79646"/>
                </a:solidFill>
                <a:latin typeface="Arial"/>
              </a:rPr>
              <a:t>BENEFITS:  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Preventive drainage health  |  lower flood damage  |  data-driven municipal ops  |  aligned with SDG 11 (Sustainable Cities) &amp; SDG 13 (Climate Action)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type="title"/>
          </p:nvPr>
        </p:nvSpPr>
        <p:spPr>
          <a:xfrm>
            <a:off x="3521528" y="1277799"/>
            <a:ext cx="5148943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REFERENCES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02920" y="2011680"/>
            <a:ext cx="1115568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350" b="1">
                <a:solidFill>
                  <a:srgbClr val="1F497D"/>
                </a:solidFill>
                <a:latin typeface="Arial"/>
              </a:rPr>
              <a:t>1.  Open-channel hydraulics:  </a:t>
            </a:r>
            <a:r>
              <a:rPr sz="1350" b="0">
                <a:solidFill>
                  <a:srgbClr val="333333"/>
                </a:solidFill>
                <a:latin typeface="Arial"/>
              </a:rPr>
              <a:t>Manning’s equation and normal-depth analysis to define expected water-level behaviour per segment.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2.  Physics-driven diagnostics:  </a:t>
            </a:r>
            <a:r>
              <a:rPr sz="1350" b="0">
                <a:solidFill>
                  <a:srgbClr val="333333"/>
                </a:solidFill>
                <a:latin typeface="Arial"/>
              </a:rPr>
              <a:t>residual (model–observation gap) analysis to expose hidden degradation that level-only monitoring misses.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3.  IoT sensing:  </a:t>
            </a:r>
            <a:r>
              <a:rPr sz="1350" b="0">
                <a:solidFill>
                  <a:srgbClr val="333333"/>
                </a:solidFill>
                <a:latin typeface="Arial"/>
              </a:rPr>
              <a:t>HC-SR04 ultrasonic water-level sensing with ESP32 edge processing - validated on our prototype.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4.  Nagpur context:  </a:t>
            </a:r>
            <a:r>
              <a:rPr sz="1350" b="0">
                <a:solidFill>
                  <a:srgbClr val="333333"/>
                </a:solidFill>
                <a:latin typeface="Arial"/>
              </a:rPr>
              <a:t>Vikasit Nagpur 2026 / Nagpur Smart City themes on resilient urban drainage and flood prevention.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497D"/>
                </a:solidFill>
                <a:latin typeface="Arial"/>
              </a:rPr>
              <a:t>5.  Validation:  </a:t>
            </a:r>
            <a:r>
              <a:rPr sz="1350" b="0">
                <a:solidFill>
                  <a:srgbClr val="333333"/>
                </a:solidFill>
                <a:latin typeface="Arial"/>
              </a:rPr>
              <a:t>miniature transparent channel with controlled inflow and removable obstruction (illustrative values marked *).</a:t>
            </a:r>
          </a:p>
        </p:txBody>
      </p:sp>
      <p:sp>
        <p:nvSpPr>
          <p:cNvPr id="149" name="Google Shape;149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Vikasit Nagpur 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0" name="Google Shape;150;p6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Rounded Rectangle 152"/>
          <p:cNvSpPr/>
          <p:nvPr/>
        </p:nvSpPr>
        <p:spPr>
          <a:xfrm>
            <a:off x="502920" y="5349240"/>
            <a:ext cx="11155680" cy="502920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538135"/>
                </a:solidFill>
                <a:latin typeface="Arial"/>
              </a:rPr>
              <a:t>Note:  </a:t>
            </a:r>
          </a:p>
          <a:p>
            <a:pPr algn="ctr"/>
            <a:r>
              <a:rPr sz="1200" b="1">
                <a:solidFill>
                  <a:srgbClr val="333333"/>
                </a:solidFill>
                <a:latin typeface="Arial"/>
              </a:rPr>
              <a:t>all KPI / impact figures are prototype illustrations, not real-time Nagpur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240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Oswald</vt:lpstr>
      <vt:lpstr>Calibri</vt:lpstr>
      <vt:lpstr>Office Theme</vt:lpstr>
      <vt:lpstr>VIKASIT NAGPUR HACKATHON 2026</vt:lpstr>
      <vt:lpstr>  </vt:lpstr>
      <vt:lpstr>TECHNICAL APPROACH</vt:lpstr>
      <vt:lpstr>PRACTICAL IMPLEMENTATION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Nidhi Bawashe</cp:lastModifiedBy>
  <cp:revision>6</cp:revision>
  <dcterms:created xsi:type="dcterms:W3CDTF">2013-12-12T18:46:50Z</dcterms:created>
  <dcterms:modified xsi:type="dcterms:W3CDTF">2026-07-31T11:22:08Z</dcterms:modified>
</cp:coreProperties>
</file>